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044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files.chroniclehq.com/chapter-background-v2/raw/v3-grid-28-dark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27" y="6927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8667" y="338667"/>
            <a:ext cx="8430381" cy="1161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71" kern="0" spc="-71" dirty="0">
                <a:solidFill>
                  <a:srgbClr val="F2F2F2"/>
                </a:solidFill>
              </a:rPr>
              <a:t>J.A.R.V.I.S - AI based voice controlled desktop assistant</a:t>
            </a:r>
            <a:endParaRPr lang="en-US" sz="4571" dirty="0"/>
          </a:p>
        </p:txBody>
      </p:sp>
      <p:sp>
        <p:nvSpPr>
          <p:cNvPr id="4" name="Text 1"/>
          <p:cNvSpPr/>
          <p:nvPr/>
        </p:nvSpPr>
        <p:spPr>
          <a:xfrm>
            <a:off x="368905" y="3628571"/>
            <a:ext cx="1536095" cy="344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49494"/>
                </a:solidFill>
              </a:rPr>
              <a:t>Presented by</a:t>
            </a:r>
            <a:endParaRPr lang="en-US" sz="1143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Rabadiya Meet D.</a:t>
            </a:r>
            <a:endParaRPr lang="en-US" sz="1143" dirty="0"/>
          </a:p>
        </p:txBody>
      </p:sp>
      <p:sp>
        <p:nvSpPr>
          <p:cNvPr id="5" name="Text 2"/>
          <p:cNvSpPr/>
          <p:nvPr/>
        </p:nvSpPr>
        <p:spPr>
          <a:xfrm>
            <a:off x="2146905" y="3628571"/>
            <a:ext cx="1536095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49494"/>
                </a:solidFill>
              </a:rPr>
              <a:t>Subject</a:t>
            </a:r>
            <a:endParaRPr lang="en-US" sz="1143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Prototype modeling (PM)</a:t>
            </a:r>
            <a:endParaRPr lang="en-US" sz="1143" dirty="0"/>
          </a:p>
        </p:txBody>
      </p:sp>
      <p:sp>
        <p:nvSpPr>
          <p:cNvPr id="6" name="Text 3"/>
          <p:cNvSpPr/>
          <p:nvPr/>
        </p:nvSpPr>
        <p:spPr>
          <a:xfrm>
            <a:off x="3924905" y="3628571"/>
            <a:ext cx="2419048" cy="348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949494"/>
                </a:solidFill>
              </a:rPr>
              <a:t>USN / Enrollment</a:t>
            </a:r>
            <a:endParaRPr lang="en-US" sz="1143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1AUA23BIT038 | 230010</a:t>
            </a:r>
            <a:endParaRPr lang="en-US" sz="114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667" y="1143000"/>
            <a:ext cx="7656286" cy="774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48" kern="0" spc="-36" dirty="0">
                <a:solidFill>
                  <a:srgbClr val="FFFFFF"/>
                </a:solidFill>
              </a:rPr>
              <a:t>Every routine task demands your hands,</a:t>
            </a:r>
            <a:br/>
            <a:r>
              <a:rPr lang="en-US" sz="3048" kern="0" spc="-36" dirty="0">
                <a:solidFill>
                  <a:srgbClr val="000000"/>
                </a:solidFill>
              </a:rPr>
              <a:t>​</a:t>
            </a:r>
            <a:r>
              <a:rPr lang="en-US" sz="3048" kern="0" spc="-36" dirty="0">
                <a:solidFill>
                  <a:srgbClr val="FFFFFF"/>
                </a:solidFill>
              </a:rPr>
              <a:t>your eyes, and your full attention.</a:t>
            </a:r>
            <a:endParaRPr lang="en-US" sz="3048" dirty="0"/>
          </a:p>
        </p:txBody>
      </p:sp>
      <p:sp>
        <p:nvSpPr>
          <p:cNvPr id="3" name="Text 1"/>
          <p:cNvSpPr/>
          <p:nvPr/>
        </p:nvSpPr>
        <p:spPr>
          <a:xfrm>
            <a:off x="211667" y="3150810"/>
            <a:ext cx="1892905" cy="132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24" kern="0" spc="-12" dirty="0">
                <a:solidFill>
                  <a:srgbClr val="F2F2F2"/>
                </a:solidFill>
              </a:rPr>
              <a:t>01</a:t>
            </a:r>
            <a:endParaRPr lang="en-US" sz="1524" dirty="0"/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kern="0" spc="-12" dirty="0">
                <a:solidFill>
                  <a:srgbClr val="F2F2F2">
                    <a:alpha val="60000"/>
                  </a:srgbClr>
                </a:solidFill>
              </a:rPr>
              <a:t>Repetitive and time-consuming</a:t>
            </a:r>
            <a:endParaRPr lang="en-US" sz="1524" dirty="0"/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kern="0" spc="-12" dirty="0">
                <a:solidFill>
                  <a:srgbClr val="F2F2F2">
                    <a:alpha val="60000"/>
                  </a:srgbClr>
                </a:solidFill>
              </a:rPr>
              <a:t>Clicking, typing, and switching windows adds up. Routine tasks drain time that could go elsewhere.</a:t>
            </a:r>
            <a:endParaRPr lang="en-US" sz="1524" dirty="0"/>
          </a:p>
        </p:txBody>
      </p:sp>
      <p:sp>
        <p:nvSpPr>
          <p:cNvPr id="4" name="Text 2"/>
          <p:cNvSpPr/>
          <p:nvPr/>
        </p:nvSpPr>
        <p:spPr>
          <a:xfrm>
            <a:off x="2382762" y="3150810"/>
            <a:ext cx="1892905" cy="132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24" kern="0" spc="-12" dirty="0">
                <a:solidFill>
                  <a:srgbClr val="F2F2F2"/>
                </a:solidFill>
              </a:rPr>
              <a:t>02</a:t>
            </a:r>
            <a:endParaRPr lang="en-US" sz="1524" dirty="0"/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kern="0" spc="-12" dirty="0">
                <a:solidFill>
                  <a:srgbClr val="F2F2F2">
                    <a:alpha val="60000"/>
                  </a:srgbClr>
                </a:solidFill>
              </a:rPr>
              <a:t>No hands-free control</a:t>
            </a:r>
            <a:endParaRPr lang="en-US" sz="1524" dirty="0"/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kern="0" spc="-12" dirty="0">
                <a:solidFill>
                  <a:srgbClr val="F2F2F2">
                    <a:alpha val="60000"/>
                  </a:srgbClr>
                </a:solidFill>
              </a:rPr>
              <a:t>There's no way to manage system tasks without stopping what you're doing to reach for a keyboard.</a:t>
            </a:r>
            <a:endParaRPr lang="en-US" sz="1524" dirty="0"/>
          </a:p>
        </p:txBody>
      </p:sp>
      <p:sp>
        <p:nvSpPr>
          <p:cNvPr id="5" name="Text 3"/>
          <p:cNvSpPr/>
          <p:nvPr/>
        </p:nvSpPr>
        <p:spPr>
          <a:xfrm>
            <a:off x="4650619" y="3150810"/>
            <a:ext cx="1892905" cy="132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24" kern="0" spc="-12" dirty="0">
                <a:solidFill>
                  <a:srgbClr val="F2F2F2"/>
                </a:solidFill>
              </a:rPr>
              <a:t>03</a:t>
            </a:r>
            <a:endParaRPr lang="en-US" sz="1524" dirty="0"/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kern="0" spc="-12" dirty="0">
                <a:solidFill>
                  <a:srgbClr val="F2F2F2">
                    <a:alpha val="60000"/>
                  </a:srgbClr>
                </a:solidFill>
              </a:rPr>
              <a:t>System info buried in menus</a:t>
            </a:r>
            <a:endParaRPr lang="en-US" sz="1524" dirty="0"/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kern="0" spc="-12" dirty="0">
                <a:solidFill>
                  <a:srgbClr val="F2F2F2">
                    <a:alpha val="60000"/>
                  </a:srgbClr>
                </a:solidFill>
              </a:rPr>
              <a:t>Checking battery, IP address, or files requires navigating multiple steps - every single time.</a:t>
            </a:r>
            <a:endParaRPr lang="en-US" sz="1524" dirty="0"/>
          </a:p>
        </p:txBody>
      </p:sp>
      <p:sp>
        <p:nvSpPr>
          <p:cNvPr id="6" name="Text 4"/>
          <p:cNvSpPr/>
          <p:nvPr/>
        </p:nvSpPr>
        <p:spPr>
          <a:xfrm>
            <a:off x="6785429" y="3150810"/>
            <a:ext cx="1892905" cy="132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24" kern="0" spc="-12" dirty="0">
                <a:solidFill>
                  <a:srgbClr val="F2F2F2"/>
                </a:solidFill>
              </a:rPr>
              <a:t>04</a:t>
            </a:r>
            <a:endParaRPr lang="en-US" sz="1524" dirty="0"/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kern="0" spc="-12" dirty="0">
                <a:solidFill>
                  <a:srgbClr val="F2F2F2">
                    <a:alpha val="60000"/>
                  </a:srgbClr>
                </a:solidFill>
              </a:rPr>
              <a:t>Context switching kills focus</a:t>
            </a:r>
            <a:endParaRPr lang="en-US" sz="1524" dirty="0"/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kern="0" spc="-12" dirty="0">
                <a:solidFill>
                  <a:srgbClr val="F2F2F2">
                    <a:alpha val="60000"/>
                  </a:srgbClr>
                </a:solidFill>
              </a:rPr>
              <a:t>Each manual interruption pulls users out of flow, fragmenting concentration across the workday.</a:t>
            </a:r>
            <a:endParaRPr lang="en-US" sz="1524" dirty="0"/>
          </a:p>
        </p:txBody>
      </p:sp>
      <p:pic>
        <p:nvPicPr>
          <p:cNvPr id="7" name="Image 0" descr="https://files.chroniclehq.com/ai-images/ai-generated-ac460d31-8e8b-4e9a-b9fd-7fa8ef0e0355.webp"/>
          <p:cNvPicPr>
            <a:picLocks noChangeAspect="1"/>
          </p:cNvPicPr>
          <p:nvPr/>
        </p:nvPicPr>
        <p:blipFill>
          <a:blip r:embed="rId3"/>
          <a:srcRect t="38000" b="38000"/>
          <a:stretch/>
        </p:blipFill>
        <p:spPr>
          <a:xfrm>
            <a:off x="60476" y="483810"/>
            <a:ext cx="9071429" cy="21771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files.chroniclehq.com/ai-images/ai-generated-7a07f236-54b0-40d2-9d96-9fadaf86a754.webp"/>
          <p:cNvPicPr>
            <a:picLocks noChangeAspect="1"/>
          </p:cNvPicPr>
          <p:nvPr/>
        </p:nvPicPr>
        <p:blipFill>
          <a:blip r:embed="rId3"/>
          <a:srcRect t="21667" b="21667"/>
          <a:stretch/>
        </p:blipFill>
        <p:spPr>
          <a:xfrm>
            <a:off x="60476" y="483810"/>
            <a:ext cx="9071429" cy="51404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2190" y="1638905"/>
            <a:ext cx="5255381" cy="1741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71" kern="0" spc="-71" dirty="0">
                <a:solidFill>
                  <a:srgbClr val="F2F2F2"/>
                </a:solidFill>
              </a:rPr>
              <a:t>What if your computer</a:t>
            </a:r>
            <a:br/>
            <a:r>
              <a:rPr lang="en-US" sz="4571" kern="0" spc="-71" dirty="0">
                <a:solidFill>
                  <a:srgbClr val="000000"/>
                </a:solidFill>
              </a:rPr>
              <a:t>​</a:t>
            </a:r>
            <a:r>
              <a:rPr lang="en-US" sz="4571" kern="0" spc="-71" dirty="0">
                <a:solidFill>
                  <a:srgbClr val="F2F2F2"/>
                </a:solidFill>
              </a:rPr>
              <a:t>just listened?</a:t>
            </a:r>
            <a:endParaRPr lang="en-US" sz="4571" dirty="0"/>
          </a:p>
        </p:txBody>
      </p:sp>
      <p:sp>
        <p:nvSpPr>
          <p:cNvPr id="4" name="Text 1"/>
          <p:cNvSpPr/>
          <p:nvPr/>
        </p:nvSpPr>
        <p:spPr>
          <a:xfrm>
            <a:off x="532190" y="3979937"/>
            <a:ext cx="5255381" cy="34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Voice should be enough to run your entire desktop.</a:t>
            </a:r>
            <a:br>
              <a:rPr dirty="0"/>
            </a:br>
            <a:r>
              <a:rPr lang="en-US" sz="1143" dirty="0">
                <a:solidFill>
                  <a:srgbClr val="000000"/>
                </a:solidFill>
              </a:rPr>
              <a:t>​</a:t>
            </a:r>
            <a:r>
              <a:rPr lang="en-US" sz="1143" dirty="0">
                <a:solidFill>
                  <a:srgbClr val="B8B8B8"/>
                </a:solidFill>
              </a:rPr>
              <a:t>No mouse. No keyboard. Just intent.</a:t>
            </a:r>
            <a:endParaRPr lang="en-US" sz="114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8612" y="1098305"/>
            <a:ext cx="2586071" cy="888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97948C"/>
                </a:solidFill>
              </a:rPr>
              <a:t>Solution intro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48612" y="1645034"/>
            <a:ext cx="2503714" cy="967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10" dirty="0">
                <a:solidFill>
                  <a:srgbClr val="000000"/>
                </a:solidFill>
              </a:rPr>
              <a:t>​</a:t>
            </a:r>
            <a:r>
              <a:rPr lang="en-US" sz="3810" dirty="0">
                <a:solidFill>
                  <a:srgbClr val="F2F2F2"/>
                </a:solidFill>
              </a:rPr>
              <a:t>J.A.R.V.I.S</a:t>
            </a:r>
            <a:endParaRPr lang="en-US" sz="3810" dirty="0"/>
          </a:p>
        </p:txBody>
      </p:sp>
      <p:sp>
        <p:nvSpPr>
          <p:cNvPr id="4" name="Text 2"/>
          <p:cNvSpPr/>
          <p:nvPr/>
        </p:nvSpPr>
        <p:spPr>
          <a:xfrm>
            <a:off x="248612" y="2976638"/>
            <a:ext cx="2503714" cy="1161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>
                    <a:alpha val="56000"/>
                  </a:srgbClr>
                </a:solidFill>
              </a:rPr>
              <a:t>AI-powered voice assistant for your desktop. Just say </a:t>
            </a:r>
            <a:r>
              <a:rPr lang="en-US" sz="952" dirty="0">
                <a:solidFill>
                  <a:srgbClr val="B8B8B8"/>
                </a:solidFill>
              </a:rPr>
              <a:t>"Hey Jarvis"</a:t>
            </a:r>
            <a:r>
              <a:rPr lang="en-US" sz="952" dirty="0">
                <a:solidFill>
                  <a:srgbClr val="B8B8B8">
                    <a:alpha val="56000"/>
                  </a:srgbClr>
                </a:solidFill>
              </a:rPr>
              <a:t> to open apps, browse the web, take screenshots, monitor your system, and more - hands-free, across multiple languages.</a:t>
            </a:r>
            <a:br>
              <a:rPr dirty="0"/>
            </a:br>
            <a:r>
              <a:rPr lang="en-US" sz="952" dirty="0">
                <a:solidFill>
                  <a:srgbClr val="000000"/>
                </a:solidFill>
              </a:rPr>
              <a:t>​</a:t>
            </a:r>
            <a:br>
              <a:rPr dirty="0"/>
            </a:br>
            <a:r>
              <a:rPr lang="en-US" sz="952" dirty="0">
                <a:solidFill>
                  <a:srgbClr val="000000"/>
                </a:solidFill>
              </a:rPr>
              <a:t>​</a:t>
            </a:r>
            <a:r>
              <a:rPr lang="en-US" sz="952" dirty="0">
                <a:solidFill>
                  <a:srgbClr val="B8B8B8">
                    <a:alpha val="56000"/>
                  </a:srgbClr>
                </a:solidFill>
              </a:rPr>
              <a:t>Built on a </a:t>
            </a:r>
            <a:r>
              <a:rPr lang="en-US" sz="952" dirty="0">
                <a:solidFill>
                  <a:srgbClr val="B8B8B8"/>
                </a:solidFill>
              </a:rPr>
              <a:t>React + Vite</a:t>
            </a:r>
            <a:r>
              <a:rPr lang="en-US" sz="952" dirty="0">
                <a:solidFill>
                  <a:srgbClr val="B8B8B8">
                    <a:alpha val="56000"/>
                  </a:srgbClr>
                </a:solidFill>
              </a:rPr>
              <a:t> frontend with a </a:t>
            </a:r>
            <a:r>
              <a:rPr lang="en-US" sz="952" dirty="0">
                <a:solidFill>
                  <a:srgbClr val="B8B8B8"/>
                </a:solidFill>
              </a:rPr>
              <a:t>Python FastAPI</a:t>
            </a:r>
            <a:r>
              <a:rPr lang="en-US" sz="952" dirty="0">
                <a:solidFill>
                  <a:srgbClr val="B8B8B8">
                    <a:alpha val="56000"/>
                  </a:srgbClr>
                </a:solidFill>
              </a:rPr>
              <a:t> backend.</a:t>
            </a:r>
            <a:endParaRPr lang="en-US" sz="952" dirty="0"/>
          </a:p>
        </p:txBody>
      </p:sp>
      <p:pic>
        <p:nvPicPr>
          <p:cNvPr id="5" name="Image 0" descr="https://files.chroniclehq.com/ai-images/ai-generated-13942099-e38b-449c-b072-dce996561ff9.webp"/>
          <p:cNvPicPr>
            <a:picLocks noChangeAspect="1"/>
          </p:cNvPicPr>
          <p:nvPr/>
        </p:nvPicPr>
        <p:blipFill>
          <a:blip r:embed="rId3"/>
          <a:srcRect t="8853" b="8853"/>
          <a:stretch/>
        </p:blipFill>
        <p:spPr>
          <a:xfrm>
            <a:off x="3374571" y="338667"/>
            <a:ext cx="5430762" cy="44691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667" y="616857"/>
            <a:ext cx="1445381" cy="58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dirty="0">
                <a:solidFill>
                  <a:srgbClr val="F3F3F3"/>
                </a:solidFill>
              </a:rPr>
              <a:t>PROJECT OBJECTIVES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080381" y="592667"/>
            <a:ext cx="6525381" cy="1354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67" dirty="0">
                <a:solidFill>
                  <a:srgbClr val="F2F2F2"/>
                </a:solidFill>
              </a:rPr>
              <a:t>J.A.R.V.I.S is designed to automate daily desktop tasks through voice - cutting manual effort and making AI-driven interaction practical and accessible.</a:t>
            </a:r>
            <a:endParaRPr lang="en-US" sz="2667" dirty="0"/>
          </a:p>
        </p:txBody>
      </p:sp>
      <p:sp>
        <p:nvSpPr>
          <p:cNvPr id="4" name="Text 2"/>
          <p:cNvSpPr/>
          <p:nvPr/>
        </p:nvSpPr>
        <p:spPr>
          <a:xfrm>
            <a:off x="2081328" y="3066143"/>
            <a:ext cx="2987524" cy="1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62" dirty="0">
                <a:solidFill>
                  <a:srgbClr val="F3F3F3"/>
                </a:solidFill>
              </a:rPr>
              <a:t>AUTOMATION GOALS</a:t>
            </a:r>
            <a:endParaRPr lang="en-US" sz="762" dirty="0"/>
          </a:p>
        </p:txBody>
      </p:sp>
      <p:sp>
        <p:nvSpPr>
          <p:cNvPr id="5" name="Text 3"/>
          <p:cNvSpPr/>
          <p:nvPr/>
        </p:nvSpPr>
        <p:spPr>
          <a:xfrm>
            <a:off x="2080381" y="3315408"/>
            <a:ext cx="2987524" cy="84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50000"/>
              </a:lnSpc>
              <a:buSzPct val="100000"/>
              <a:buChar char="•"/>
            </a:pPr>
            <a:r>
              <a:rPr lang="en-US" sz="1143" dirty="0">
                <a:solidFill>
                  <a:srgbClr val="B8B8B8"/>
                </a:solidFill>
              </a:rPr>
              <a:t>Automate daily computer tasks through voice commands</a:t>
            </a:r>
            <a:endParaRPr lang="en-US" sz="1143" dirty="0"/>
          </a:p>
          <a:p>
            <a:pPr marL="127000" indent="-127000" algn="l">
              <a:lnSpc>
                <a:spcPct val="150000"/>
              </a:lnSpc>
              <a:buSzPct val="100000"/>
              <a:buChar char="•"/>
            </a:pPr>
            <a:r>
              <a:rPr lang="en-US" sz="1143" dirty="0">
                <a:solidFill>
                  <a:srgbClr val="B8B8B8"/>
                </a:solidFill>
              </a:rPr>
              <a:t>Reduce manual effort for common operations</a:t>
            </a:r>
            <a:endParaRPr lang="en-US" sz="1143" dirty="0"/>
          </a:p>
        </p:txBody>
      </p:sp>
      <p:sp>
        <p:nvSpPr>
          <p:cNvPr id="6" name="Text 4"/>
          <p:cNvSpPr/>
          <p:nvPr/>
        </p:nvSpPr>
        <p:spPr>
          <a:xfrm>
            <a:off x="5511841" y="3066143"/>
            <a:ext cx="2987524" cy="1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62" dirty="0">
                <a:solidFill>
                  <a:srgbClr val="F3F3F3"/>
                </a:solidFill>
              </a:rPr>
              <a:t>INTELLIGENCE GOALS</a:t>
            </a:r>
            <a:endParaRPr lang="en-US" sz="762" dirty="0"/>
          </a:p>
        </p:txBody>
      </p:sp>
      <p:sp>
        <p:nvSpPr>
          <p:cNvPr id="7" name="Text 5"/>
          <p:cNvSpPr/>
          <p:nvPr/>
        </p:nvSpPr>
        <p:spPr>
          <a:xfrm>
            <a:off x="5511841" y="3315408"/>
            <a:ext cx="2987524" cy="84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50000"/>
              </a:lnSpc>
              <a:buSzPct val="100000"/>
              <a:buChar char="•"/>
            </a:pPr>
            <a:r>
              <a:rPr lang="en-US" sz="1143" dirty="0">
                <a:solidFill>
                  <a:srgbClr val="B8B8B8"/>
                </a:solidFill>
              </a:rPr>
              <a:t>Provide real-time system information via voice queries</a:t>
            </a:r>
            <a:endParaRPr lang="en-US" sz="1143" dirty="0"/>
          </a:p>
          <a:p>
            <a:pPr marL="127000" indent="-127000" algn="l">
              <a:lnSpc>
                <a:spcPct val="150000"/>
              </a:lnSpc>
              <a:buSzPct val="100000"/>
              <a:buChar char="•"/>
            </a:pPr>
            <a:r>
              <a:rPr lang="en-US" sz="1143" dirty="0">
                <a:solidFill>
                  <a:srgbClr val="B8B8B8"/>
                </a:solidFill>
              </a:rPr>
              <a:t>Demonstrate practical AI-based automation on the desktop</a:t>
            </a:r>
            <a:endParaRPr lang="en-US" sz="114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667" y="338667"/>
            <a:ext cx="2210569" cy="257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B8B8B8"/>
                </a:solidFill>
              </a:rPr>
              <a:t>How it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38667" y="1584476"/>
            <a:ext cx="423333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286" kern="0" spc="-12" dirty="0">
                <a:solidFill>
                  <a:srgbClr val="DBDBDB"/>
                </a:solidFill>
              </a:rPr>
              <a:t>01</a:t>
            </a:r>
            <a:endParaRPr lang="en-US" sz="2286" dirty="0"/>
          </a:p>
        </p:txBody>
      </p:sp>
      <p:sp>
        <p:nvSpPr>
          <p:cNvPr id="4" name="Text 2"/>
          <p:cNvSpPr/>
          <p:nvPr/>
        </p:nvSpPr>
        <p:spPr>
          <a:xfrm>
            <a:off x="1530048" y="1530048"/>
            <a:ext cx="4112381" cy="38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48" kern="0" spc="-36" dirty="0">
                <a:solidFill>
                  <a:srgbClr val="F2F2F2"/>
                </a:solidFill>
              </a:rPr>
              <a:t>Wake word detection</a:t>
            </a:r>
            <a:endParaRPr lang="en-US" sz="3048" dirty="0"/>
          </a:p>
        </p:txBody>
      </p:sp>
      <p:sp>
        <p:nvSpPr>
          <p:cNvPr id="5" name="Text 3"/>
          <p:cNvSpPr/>
          <p:nvPr/>
        </p:nvSpPr>
        <p:spPr>
          <a:xfrm>
            <a:off x="6150429" y="1530048"/>
            <a:ext cx="2376714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2" dirty="0">
                <a:solidFill>
                  <a:srgbClr val="808080"/>
                </a:solidFill>
              </a:rPr>
              <a:t>User speaks a command. A wake word triggers J.A.R.V.I.S to start listening, activating the speech recognition engine.</a:t>
            </a:r>
            <a:endParaRPr lang="en-US" sz="952" dirty="0"/>
          </a:p>
        </p:txBody>
      </p:sp>
      <p:sp>
        <p:nvSpPr>
          <p:cNvPr id="6" name="Text 4"/>
          <p:cNvSpPr/>
          <p:nvPr/>
        </p:nvSpPr>
        <p:spPr>
          <a:xfrm>
            <a:off x="338667" y="2455333"/>
            <a:ext cx="423333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286" kern="0" spc="-12" dirty="0">
                <a:solidFill>
                  <a:srgbClr val="DBDBDB"/>
                </a:solidFill>
              </a:rPr>
              <a:t>02</a:t>
            </a:r>
            <a:endParaRPr lang="en-US" sz="2286" dirty="0"/>
          </a:p>
        </p:txBody>
      </p:sp>
      <p:sp>
        <p:nvSpPr>
          <p:cNvPr id="7" name="Text 5"/>
          <p:cNvSpPr/>
          <p:nvPr/>
        </p:nvSpPr>
        <p:spPr>
          <a:xfrm>
            <a:off x="1530048" y="2413000"/>
            <a:ext cx="4112381" cy="38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48" kern="0" spc="-36" dirty="0">
                <a:solidFill>
                  <a:srgbClr val="F2F2F2"/>
                </a:solidFill>
              </a:rPr>
              <a:t>Speech recognition</a:t>
            </a:r>
            <a:endParaRPr lang="en-US" sz="3048" dirty="0"/>
          </a:p>
        </p:txBody>
      </p:sp>
      <p:sp>
        <p:nvSpPr>
          <p:cNvPr id="8" name="Text 6"/>
          <p:cNvSpPr/>
          <p:nvPr/>
        </p:nvSpPr>
        <p:spPr>
          <a:xfrm>
            <a:off x="6150429" y="2413000"/>
            <a:ext cx="2376714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2" dirty="0">
                <a:solidFill>
                  <a:srgbClr val="808080"/>
                </a:solidFill>
              </a:rPr>
              <a:t>Voice input is processed and transcribed. The engine converts spoken words into text for the backend to interpret.</a:t>
            </a:r>
            <a:endParaRPr lang="en-US" sz="952" dirty="0"/>
          </a:p>
        </p:txBody>
      </p:sp>
      <p:sp>
        <p:nvSpPr>
          <p:cNvPr id="9" name="Text 7"/>
          <p:cNvSpPr/>
          <p:nvPr/>
        </p:nvSpPr>
        <p:spPr>
          <a:xfrm>
            <a:off x="338667" y="3350381"/>
            <a:ext cx="423333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286" kern="0" spc="-12" dirty="0">
                <a:solidFill>
                  <a:srgbClr val="DBDBDB"/>
                </a:solidFill>
              </a:rPr>
              <a:t>03</a:t>
            </a:r>
            <a:endParaRPr lang="en-US" sz="2286" dirty="0"/>
          </a:p>
        </p:txBody>
      </p:sp>
      <p:sp>
        <p:nvSpPr>
          <p:cNvPr id="10" name="Text 8"/>
          <p:cNvSpPr/>
          <p:nvPr/>
        </p:nvSpPr>
        <p:spPr>
          <a:xfrm>
            <a:off x="1530048" y="3295952"/>
            <a:ext cx="4112381" cy="774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48" kern="0" spc="-36" dirty="0">
                <a:solidFill>
                  <a:srgbClr val="F2F2F2"/>
                </a:solidFill>
              </a:rPr>
              <a:t>FastAPI routing and execution</a:t>
            </a:r>
            <a:endParaRPr lang="en-US" sz="3048" dirty="0"/>
          </a:p>
        </p:txBody>
      </p:sp>
      <p:sp>
        <p:nvSpPr>
          <p:cNvPr id="11" name="Text 9"/>
          <p:cNvSpPr/>
          <p:nvPr/>
        </p:nvSpPr>
        <p:spPr>
          <a:xfrm>
            <a:off x="6150429" y="3295952"/>
            <a:ext cx="2376714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2" dirty="0">
                <a:solidFill>
                  <a:srgbClr val="808080"/>
                </a:solidFill>
              </a:rPr>
              <a:t>The backend routes the command to the relevant module, executes the task, and returns a response via text-to-speech.</a:t>
            </a:r>
            <a:endParaRPr lang="en-US" sz="952" dirty="0"/>
          </a:p>
        </p:txBody>
      </p:sp>
      <p:sp>
        <p:nvSpPr>
          <p:cNvPr id="12" name="Text 10"/>
          <p:cNvSpPr/>
          <p:nvPr/>
        </p:nvSpPr>
        <p:spPr>
          <a:xfrm>
            <a:off x="338667" y="4257524"/>
            <a:ext cx="423333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286" kern="0" spc="-12" dirty="0">
                <a:solidFill>
                  <a:srgbClr val="DBDBDB"/>
                </a:solidFill>
              </a:rPr>
              <a:t>04</a:t>
            </a:r>
            <a:endParaRPr lang="en-US" sz="2286" dirty="0"/>
          </a:p>
        </p:txBody>
      </p:sp>
      <p:sp>
        <p:nvSpPr>
          <p:cNvPr id="13" name="Text 11"/>
          <p:cNvSpPr/>
          <p:nvPr/>
        </p:nvSpPr>
        <p:spPr>
          <a:xfrm>
            <a:off x="1530048" y="4178905"/>
            <a:ext cx="4112381" cy="77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48" kern="0" spc="-36" dirty="0">
                <a:solidFill>
                  <a:srgbClr val="F2F2F2"/>
                </a:solidFill>
              </a:rPr>
              <a:t>React dashboard feedback</a:t>
            </a:r>
            <a:endParaRPr lang="en-US" sz="3048" dirty="0"/>
          </a:p>
        </p:txBody>
      </p:sp>
      <p:sp>
        <p:nvSpPr>
          <p:cNvPr id="14" name="Text 12"/>
          <p:cNvSpPr/>
          <p:nvPr/>
        </p:nvSpPr>
        <p:spPr>
          <a:xfrm>
            <a:off x="6150429" y="4178905"/>
            <a:ext cx="2376714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2" dirty="0">
                <a:solidFill>
                  <a:srgbClr val="808080"/>
                </a:solidFill>
              </a:rPr>
              <a:t>The React + Vite frontend displays live status and feedback, keeping the user informed at every step of the interaction.</a:t>
            </a:r>
            <a:endParaRPr lang="en-US" sz="95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571" y="725714"/>
            <a:ext cx="7474857" cy="387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48" kern="0" spc="-36" dirty="0">
                <a:solidFill>
                  <a:srgbClr val="F2F2F2"/>
                </a:solidFill>
              </a:rPr>
              <a:t>Core modules</a:t>
            </a:r>
            <a:endParaRPr lang="en-US" sz="3048" dirty="0"/>
          </a:p>
        </p:txBody>
      </p:sp>
      <p:sp>
        <p:nvSpPr>
          <p:cNvPr id="3" name="Shape 1"/>
          <p:cNvSpPr/>
          <p:nvPr/>
        </p:nvSpPr>
        <p:spPr>
          <a:xfrm>
            <a:off x="834571" y="1397000"/>
            <a:ext cx="2352524" cy="1560286"/>
          </a:xfrm>
          <a:prstGeom prst="roundRect">
            <a:avLst>
              <a:gd name="adj" fmla="val 6202"/>
            </a:avLst>
          </a:prstGeom>
          <a:solidFill>
            <a:srgbClr val="262626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79714" y="1542143"/>
            <a:ext cx="2062238" cy="141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43" dirty="0">
                <a:solidFill>
                  <a:srgbClr val="F3F3F3"/>
                </a:solidFill>
              </a:rPr>
              <a:t>Music control</a:t>
            </a:r>
            <a:endParaRPr lang="en-US" sz="1143" dirty="0"/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F3F3F3">
                    <a:alpha val="60000"/>
                  </a:srgbClr>
                </a:solidFill>
              </a:rPr>
              <a:t>Play, browse, and stop music entirely by voice command.</a:t>
            </a:r>
            <a:endParaRPr lang="en-US" sz="1143" dirty="0"/>
          </a:p>
        </p:txBody>
      </p:sp>
      <p:sp>
        <p:nvSpPr>
          <p:cNvPr id="5" name="Shape 3"/>
          <p:cNvSpPr/>
          <p:nvPr/>
        </p:nvSpPr>
        <p:spPr>
          <a:xfrm>
            <a:off x="834571" y="2812143"/>
            <a:ext cx="2352524" cy="145143"/>
          </a:xfrm>
          <a:custGeom>
            <a:avLst/>
            <a:gdLst/>
            <a:ahLst/>
            <a:cxnLst/>
            <a:rect l="l" t="t" r="r" b="b"/>
            <a:pathLst>
              <a:path w="2352524" h="145143">
                <a:moveTo>
                  <a:pt x="0" y="0"/>
                </a:moveTo>
                <a:lnTo>
                  <a:pt x="2352524" y="0"/>
                </a:lnTo>
                <a:lnTo>
                  <a:pt x="2352524" y="48381"/>
                </a:lnTo>
                <a:cubicBezTo>
                  <a:pt x="2352524" y="101821"/>
                  <a:pt x="2309202" y="145143"/>
                  <a:pt x="2255762" y="145143"/>
                </a:cubicBezTo>
                <a:lnTo>
                  <a:pt x="96762" y="145143"/>
                </a:lnTo>
                <a:cubicBezTo>
                  <a:pt x="43322" y="145143"/>
                  <a:pt x="0" y="101821"/>
                  <a:pt x="0" y="48381"/>
                </a:cubicBezTo>
                <a:close/>
              </a:path>
            </a:pathLst>
          </a:custGeom>
          <a:solidFill>
            <a:srgbClr val="0F0F0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398762" y="1397000"/>
            <a:ext cx="2352524" cy="1560286"/>
          </a:xfrm>
          <a:prstGeom prst="roundRect">
            <a:avLst>
              <a:gd name="adj" fmla="val 6202"/>
            </a:avLst>
          </a:prstGeom>
          <a:solidFill>
            <a:srgbClr val="262626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543905" y="1542143"/>
            <a:ext cx="2062238" cy="141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43" dirty="0">
                <a:solidFill>
                  <a:srgbClr val="F3F3F3"/>
                </a:solidFill>
              </a:rPr>
              <a:t>System monitor</a:t>
            </a:r>
            <a:endParaRPr lang="en-US" sz="1143" dirty="0"/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F3F3F3">
                    <a:alpha val="60000"/>
                  </a:srgbClr>
                </a:solidFill>
              </a:rPr>
              <a:t>Check battery, internet status, IP address, and launch apps on demand.</a:t>
            </a:r>
            <a:endParaRPr lang="en-US" sz="1143" dirty="0"/>
          </a:p>
        </p:txBody>
      </p:sp>
      <p:sp>
        <p:nvSpPr>
          <p:cNvPr id="8" name="Shape 6"/>
          <p:cNvSpPr/>
          <p:nvPr/>
        </p:nvSpPr>
        <p:spPr>
          <a:xfrm>
            <a:off x="3398762" y="2812143"/>
            <a:ext cx="2352524" cy="145143"/>
          </a:xfrm>
          <a:custGeom>
            <a:avLst/>
            <a:gdLst/>
            <a:ahLst/>
            <a:cxnLst/>
            <a:rect l="l" t="t" r="r" b="b"/>
            <a:pathLst>
              <a:path w="2352524" h="145143">
                <a:moveTo>
                  <a:pt x="0" y="0"/>
                </a:moveTo>
                <a:lnTo>
                  <a:pt x="2352524" y="0"/>
                </a:lnTo>
                <a:lnTo>
                  <a:pt x="2352524" y="48381"/>
                </a:lnTo>
                <a:cubicBezTo>
                  <a:pt x="2352524" y="101821"/>
                  <a:pt x="2309202" y="145143"/>
                  <a:pt x="2255762" y="145143"/>
                </a:cubicBezTo>
                <a:lnTo>
                  <a:pt x="96762" y="145143"/>
                </a:lnTo>
                <a:cubicBezTo>
                  <a:pt x="43322" y="145143"/>
                  <a:pt x="0" y="101821"/>
                  <a:pt x="0" y="48381"/>
                </a:cubicBezTo>
                <a:close/>
              </a:path>
            </a:pathLst>
          </a:custGeom>
          <a:solidFill>
            <a:srgbClr val="0F0F0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962952" y="1397000"/>
            <a:ext cx="2352524" cy="1560286"/>
          </a:xfrm>
          <a:prstGeom prst="roundRect">
            <a:avLst>
              <a:gd name="adj" fmla="val 6202"/>
            </a:avLst>
          </a:prstGeom>
          <a:solidFill>
            <a:srgbClr val="262626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108095" y="1542143"/>
            <a:ext cx="2062238" cy="141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43" dirty="0">
                <a:solidFill>
                  <a:srgbClr val="F3F3F3"/>
                </a:solidFill>
              </a:rPr>
              <a:t>File manager</a:t>
            </a:r>
            <a:endParaRPr lang="en-US" sz="1143" dirty="0"/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F3F3F3">
                    <a:alpha val="60000"/>
                  </a:srgbClr>
                </a:solidFill>
              </a:rPr>
              <a:t>Search files, create folders, read text and PDFs, capture screenshots.</a:t>
            </a:r>
            <a:endParaRPr lang="en-US" sz="1143" dirty="0"/>
          </a:p>
        </p:txBody>
      </p:sp>
      <p:sp>
        <p:nvSpPr>
          <p:cNvPr id="11" name="Shape 9"/>
          <p:cNvSpPr/>
          <p:nvPr/>
        </p:nvSpPr>
        <p:spPr>
          <a:xfrm>
            <a:off x="5962952" y="2812143"/>
            <a:ext cx="2352524" cy="145143"/>
          </a:xfrm>
          <a:custGeom>
            <a:avLst/>
            <a:gdLst/>
            <a:ahLst/>
            <a:cxnLst/>
            <a:rect l="l" t="t" r="r" b="b"/>
            <a:pathLst>
              <a:path w="2352524" h="145143">
                <a:moveTo>
                  <a:pt x="0" y="0"/>
                </a:moveTo>
                <a:lnTo>
                  <a:pt x="2352524" y="0"/>
                </a:lnTo>
                <a:lnTo>
                  <a:pt x="2352524" y="48381"/>
                </a:lnTo>
                <a:cubicBezTo>
                  <a:pt x="2352524" y="101821"/>
                  <a:pt x="2309202" y="145143"/>
                  <a:pt x="2255762" y="145143"/>
                </a:cubicBezTo>
                <a:lnTo>
                  <a:pt x="96762" y="145143"/>
                </a:lnTo>
                <a:cubicBezTo>
                  <a:pt x="43322" y="145143"/>
                  <a:pt x="0" y="101821"/>
                  <a:pt x="0" y="48381"/>
                </a:cubicBezTo>
                <a:close/>
              </a:path>
            </a:pathLst>
          </a:custGeom>
          <a:solidFill>
            <a:srgbClr val="0F0F0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34571" y="3150810"/>
            <a:ext cx="2352524" cy="1560286"/>
          </a:xfrm>
          <a:prstGeom prst="roundRect">
            <a:avLst>
              <a:gd name="adj" fmla="val 6202"/>
            </a:avLst>
          </a:prstGeom>
          <a:solidFill>
            <a:srgbClr val="262626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79714" y="3295952"/>
            <a:ext cx="2062238" cy="141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43" dirty="0">
                <a:solidFill>
                  <a:srgbClr val="F3F3F3"/>
                </a:solidFill>
              </a:rPr>
              <a:t>Communication</a:t>
            </a:r>
            <a:endParaRPr lang="en-US" sz="1143" dirty="0"/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F3F3F3">
                    <a:alpha val="60000"/>
                  </a:srgbClr>
                </a:solidFill>
              </a:rPr>
              <a:t>Send emails, open WhatsApp, and run web searches by voice.</a:t>
            </a:r>
            <a:endParaRPr lang="en-US" sz="1143" dirty="0"/>
          </a:p>
        </p:txBody>
      </p:sp>
      <p:sp>
        <p:nvSpPr>
          <p:cNvPr id="14" name="Shape 12"/>
          <p:cNvSpPr/>
          <p:nvPr/>
        </p:nvSpPr>
        <p:spPr>
          <a:xfrm>
            <a:off x="834571" y="4565952"/>
            <a:ext cx="2352524" cy="145143"/>
          </a:xfrm>
          <a:custGeom>
            <a:avLst/>
            <a:gdLst/>
            <a:ahLst/>
            <a:cxnLst/>
            <a:rect l="l" t="t" r="r" b="b"/>
            <a:pathLst>
              <a:path w="2352524" h="145143">
                <a:moveTo>
                  <a:pt x="0" y="0"/>
                </a:moveTo>
                <a:lnTo>
                  <a:pt x="2352524" y="0"/>
                </a:lnTo>
                <a:lnTo>
                  <a:pt x="2352524" y="48381"/>
                </a:lnTo>
                <a:cubicBezTo>
                  <a:pt x="2352524" y="101821"/>
                  <a:pt x="2309202" y="145143"/>
                  <a:pt x="2255762" y="145143"/>
                </a:cubicBezTo>
                <a:lnTo>
                  <a:pt x="96762" y="145143"/>
                </a:lnTo>
                <a:cubicBezTo>
                  <a:pt x="43322" y="145143"/>
                  <a:pt x="0" y="101821"/>
                  <a:pt x="0" y="48381"/>
                </a:cubicBezTo>
                <a:close/>
              </a:path>
            </a:pathLst>
          </a:custGeom>
          <a:solidFill>
            <a:srgbClr val="0F0F0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404810" y="3150810"/>
            <a:ext cx="2352524" cy="1560286"/>
          </a:xfrm>
          <a:prstGeom prst="roundRect">
            <a:avLst>
              <a:gd name="adj" fmla="val 6202"/>
            </a:avLst>
          </a:prstGeom>
          <a:solidFill>
            <a:srgbClr val="262626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549952" y="3295952"/>
            <a:ext cx="2062238" cy="141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43" dirty="0">
                <a:solidFill>
                  <a:srgbClr val="F3F3F3"/>
                </a:solidFill>
              </a:rPr>
              <a:t>Timers and alarms</a:t>
            </a:r>
            <a:endParaRPr lang="en-US" sz="1143" dirty="0"/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F3F3F3">
                    <a:alpha val="60000"/>
                  </a:srgbClr>
                </a:solidFill>
              </a:rPr>
              <a:t>Set timers, alarms, and trigger the calculator - all hands-free.</a:t>
            </a:r>
            <a:endParaRPr lang="en-US" sz="1143" dirty="0"/>
          </a:p>
        </p:txBody>
      </p:sp>
      <p:sp>
        <p:nvSpPr>
          <p:cNvPr id="17" name="Shape 15"/>
          <p:cNvSpPr/>
          <p:nvPr/>
        </p:nvSpPr>
        <p:spPr>
          <a:xfrm>
            <a:off x="3404810" y="4565952"/>
            <a:ext cx="2352524" cy="145143"/>
          </a:xfrm>
          <a:custGeom>
            <a:avLst/>
            <a:gdLst/>
            <a:ahLst/>
            <a:cxnLst/>
            <a:rect l="l" t="t" r="r" b="b"/>
            <a:pathLst>
              <a:path w="2352524" h="145143">
                <a:moveTo>
                  <a:pt x="0" y="0"/>
                </a:moveTo>
                <a:lnTo>
                  <a:pt x="2352524" y="0"/>
                </a:lnTo>
                <a:lnTo>
                  <a:pt x="2352524" y="48381"/>
                </a:lnTo>
                <a:cubicBezTo>
                  <a:pt x="2352524" y="101821"/>
                  <a:pt x="2309202" y="145143"/>
                  <a:pt x="2255762" y="145143"/>
                </a:cubicBezTo>
                <a:lnTo>
                  <a:pt x="96762" y="145143"/>
                </a:lnTo>
                <a:cubicBezTo>
                  <a:pt x="43322" y="145143"/>
                  <a:pt x="0" y="101821"/>
                  <a:pt x="0" y="48381"/>
                </a:cubicBezTo>
                <a:close/>
              </a:path>
            </a:pathLst>
          </a:custGeom>
          <a:solidFill>
            <a:srgbClr val="0F0F0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962952" y="3150810"/>
            <a:ext cx="2352524" cy="1560286"/>
          </a:xfrm>
          <a:prstGeom prst="roundRect">
            <a:avLst>
              <a:gd name="adj" fmla="val 6202"/>
            </a:avLst>
          </a:prstGeom>
          <a:solidFill>
            <a:srgbClr val="262626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108095" y="3295952"/>
            <a:ext cx="2062238" cy="141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43" dirty="0">
                <a:solidFill>
                  <a:srgbClr val="F3F3F3"/>
                </a:solidFill>
              </a:rPr>
              <a:t>AI chat module</a:t>
            </a:r>
            <a:endParaRPr lang="en-US" sz="1143" dirty="0"/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F3F3F3">
                    <a:alpha val="60000"/>
                  </a:srgbClr>
                </a:solidFill>
              </a:rPr>
              <a:t>Conversational AI for open-ended queries and general assistance.</a:t>
            </a:r>
            <a:endParaRPr lang="en-US" sz="1143" dirty="0"/>
          </a:p>
        </p:txBody>
      </p:sp>
      <p:sp>
        <p:nvSpPr>
          <p:cNvPr id="20" name="Shape 18"/>
          <p:cNvSpPr/>
          <p:nvPr/>
        </p:nvSpPr>
        <p:spPr>
          <a:xfrm>
            <a:off x="5962952" y="4565952"/>
            <a:ext cx="2352524" cy="145143"/>
          </a:xfrm>
          <a:custGeom>
            <a:avLst/>
            <a:gdLst/>
            <a:ahLst/>
            <a:cxnLst/>
            <a:rect l="l" t="t" r="r" b="b"/>
            <a:pathLst>
              <a:path w="2352524" h="145143">
                <a:moveTo>
                  <a:pt x="0" y="0"/>
                </a:moveTo>
                <a:lnTo>
                  <a:pt x="2352524" y="0"/>
                </a:lnTo>
                <a:lnTo>
                  <a:pt x="2352524" y="48381"/>
                </a:lnTo>
                <a:cubicBezTo>
                  <a:pt x="2352524" y="101821"/>
                  <a:pt x="2309202" y="145143"/>
                  <a:pt x="2255762" y="145143"/>
                </a:cubicBezTo>
                <a:lnTo>
                  <a:pt x="96762" y="145143"/>
                </a:lnTo>
                <a:cubicBezTo>
                  <a:pt x="43322" y="145143"/>
                  <a:pt x="0" y="101821"/>
                  <a:pt x="0" y="48381"/>
                </a:cubicBezTo>
                <a:close/>
              </a:path>
            </a:pathLst>
          </a:custGeom>
          <a:solidFill>
            <a:srgbClr val="0F0F0F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095" y="725714"/>
            <a:ext cx="8345714" cy="387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48" kern="0" spc="-36" dirty="0">
                <a:solidFill>
                  <a:srgbClr val="F2F2F2"/>
                </a:solidFill>
              </a:rPr>
              <a:t>Technology stack</a:t>
            </a:r>
            <a:endParaRPr lang="en-US" sz="3048" dirty="0"/>
          </a:p>
        </p:txBody>
      </p:sp>
      <p:sp>
        <p:nvSpPr>
          <p:cNvPr id="3" name="Text 1"/>
          <p:cNvSpPr/>
          <p:nvPr/>
        </p:nvSpPr>
        <p:spPr>
          <a:xfrm>
            <a:off x="393095" y="1270000"/>
            <a:ext cx="5442857" cy="145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A modern, lightweight stack built for speed and extensibility.</a:t>
            </a:r>
            <a:endParaRPr lang="en-US" sz="952" dirty="0"/>
          </a:p>
        </p:txBody>
      </p:sp>
      <p:sp>
        <p:nvSpPr>
          <p:cNvPr id="4" name="Text 2"/>
          <p:cNvSpPr/>
          <p:nvPr/>
        </p:nvSpPr>
        <p:spPr>
          <a:xfrm>
            <a:off x="393095" y="3265714"/>
            <a:ext cx="1935238" cy="798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Frontend</a:t>
            </a:r>
            <a:endParaRPr lang="en-US" sz="952" dirty="0"/>
          </a:p>
          <a:p>
            <a:pPr marL="127000" indent="-127000" algn="l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B8B8B8">
                    <a:alpha val="56000"/>
                  </a:srgbClr>
                </a:solidFill>
              </a:rPr>
              <a:t>React + Vite</a:t>
            </a:r>
            <a:endParaRPr lang="en-US" sz="952" dirty="0"/>
          </a:p>
          <a:p>
            <a:pPr marL="127000" indent="-127000" algn="l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B8B8B8">
                    <a:alpha val="56000"/>
                  </a:srgbClr>
                </a:solidFill>
              </a:rPr>
              <a:t>Fast UI rendering</a:t>
            </a:r>
            <a:endParaRPr lang="en-US" sz="952" dirty="0"/>
          </a:p>
          <a:p>
            <a:pPr marL="127000" indent="-127000" algn="l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B8B8B8">
                    <a:alpha val="56000"/>
                  </a:srgbClr>
                </a:solidFill>
              </a:rPr>
              <a:t>Modular component architecture</a:t>
            </a:r>
            <a:endParaRPr lang="en-US" sz="952" dirty="0"/>
          </a:p>
        </p:txBody>
      </p:sp>
      <p:sp>
        <p:nvSpPr>
          <p:cNvPr id="5" name="Text 3"/>
          <p:cNvSpPr/>
          <p:nvPr/>
        </p:nvSpPr>
        <p:spPr>
          <a:xfrm>
            <a:off x="2660952" y="3265714"/>
            <a:ext cx="1935238" cy="798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Backend</a:t>
            </a:r>
            <a:endParaRPr lang="en-US" sz="952" dirty="0"/>
          </a:p>
          <a:p>
            <a:pPr marL="127000" indent="-127000" algn="l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B8B8B8">
                    <a:alpha val="56000"/>
                  </a:srgbClr>
                </a:solidFill>
              </a:rPr>
              <a:t>Python FastAPI</a:t>
            </a:r>
            <a:endParaRPr lang="en-US" sz="952" dirty="0"/>
          </a:p>
          <a:p>
            <a:pPr marL="127000" indent="-127000" algn="l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B8B8B8">
                    <a:alpha val="56000"/>
                  </a:srgbClr>
                </a:solidFill>
              </a:rPr>
              <a:t>High-performance API layer</a:t>
            </a:r>
            <a:endParaRPr lang="en-US" sz="952" dirty="0"/>
          </a:p>
          <a:p>
            <a:pPr marL="127000" indent="-127000" algn="l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B8B8B8">
                    <a:alpha val="56000"/>
                  </a:srgbClr>
                </a:solidFill>
              </a:rPr>
              <a:t>Lightweight and async-ready</a:t>
            </a:r>
            <a:endParaRPr lang="en-US" sz="952" dirty="0"/>
          </a:p>
        </p:txBody>
      </p:sp>
      <p:sp>
        <p:nvSpPr>
          <p:cNvPr id="6" name="Text 4"/>
          <p:cNvSpPr/>
          <p:nvPr/>
        </p:nvSpPr>
        <p:spPr>
          <a:xfrm>
            <a:off x="4928810" y="3265714"/>
            <a:ext cx="1935238" cy="798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Voice recognition</a:t>
            </a:r>
            <a:endParaRPr lang="en-US" sz="952" dirty="0"/>
          </a:p>
          <a:p>
            <a:pPr marL="127000" indent="-127000" algn="l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B8B8B8">
                    <a:alpha val="56000"/>
                  </a:srgbClr>
                </a:solidFill>
              </a:rPr>
              <a:t>Speech recognition libraries</a:t>
            </a:r>
            <a:endParaRPr lang="en-US" sz="952" dirty="0"/>
          </a:p>
          <a:p>
            <a:pPr marL="127000" indent="-127000" algn="l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B8B8B8">
                    <a:alpha val="56000"/>
                  </a:srgbClr>
                </a:solidFill>
              </a:rPr>
              <a:t>Wake word detection</a:t>
            </a:r>
            <a:endParaRPr lang="en-US" sz="952" dirty="0"/>
          </a:p>
          <a:p>
            <a:pPr marL="127000" indent="-127000" algn="l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B8B8B8">
                    <a:alpha val="56000"/>
                  </a:srgbClr>
                </a:solidFill>
              </a:rPr>
              <a:t>Command parsing</a:t>
            </a:r>
            <a:endParaRPr lang="en-US" sz="952" dirty="0"/>
          </a:p>
        </p:txBody>
      </p:sp>
      <p:sp>
        <p:nvSpPr>
          <p:cNvPr id="7" name="Text 5"/>
          <p:cNvSpPr/>
          <p:nvPr/>
        </p:nvSpPr>
        <p:spPr>
          <a:xfrm>
            <a:off x="7196667" y="3265714"/>
            <a:ext cx="1693333" cy="798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Output</a:t>
            </a:r>
            <a:endParaRPr lang="en-US" sz="952" dirty="0"/>
          </a:p>
          <a:p>
            <a:pPr marL="127000" indent="-127000" algn="l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B8B8B8">
                    <a:alpha val="56000"/>
                  </a:srgbClr>
                </a:solidFill>
              </a:rPr>
              <a:t>Text-to-speech engine</a:t>
            </a:r>
            <a:endParaRPr lang="en-US" sz="952" dirty="0"/>
          </a:p>
          <a:p>
            <a:pPr marL="127000" indent="-127000" algn="l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B8B8B8">
                    <a:alpha val="56000"/>
                  </a:srgbClr>
                </a:solidFill>
              </a:rPr>
              <a:t>Natural voice responses</a:t>
            </a:r>
            <a:endParaRPr lang="en-US" sz="952" dirty="0"/>
          </a:p>
          <a:p>
            <a:pPr marL="127000" indent="-127000" algn="l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B8B8B8">
                    <a:alpha val="56000"/>
                  </a:srgbClr>
                </a:solidFill>
              </a:rPr>
              <a:t>Real-time audio playback</a:t>
            </a:r>
            <a:endParaRPr lang="en-US" sz="95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files.chroniclehq.com/chapter-background-v2/raw/v3-grid-22-dark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9619" y="526143"/>
            <a:ext cx="3652762" cy="38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48" kern="0" spc="-36" dirty="0">
                <a:solidFill>
                  <a:srgbClr val="F2F2F2"/>
                </a:solidFill>
              </a:rPr>
              <a:t>Strengths</a:t>
            </a:r>
            <a:endParaRPr lang="en-US" sz="3048" dirty="0"/>
          </a:p>
        </p:txBody>
      </p:sp>
      <p:sp>
        <p:nvSpPr>
          <p:cNvPr id="4" name="Text 1"/>
          <p:cNvSpPr/>
          <p:nvPr/>
        </p:nvSpPr>
        <p:spPr>
          <a:xfrm>
            <a:off x="5031619" y="526143"/>
            <a:ext cx="3652762" cy="38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48" kern="0" spc="-36" dirty="0">
                <a:solidFill>
                  <a:srgbClr val="F2F2F2"/>
                </a:solidFill>
              </a:rPr>
              <a:t>Current limitations</a:t>
            </a:r>
            <a:endParaRPr lang="en-US" sz="3048" dirty="0"/>
          </a:p>
        </p:txBody>
      </p:sp>
      <p:sp>
        <p:nvSpPr>
          <p:cNvPr id="5" name="Text 2"/>
          <p:cNvSpPr/>
          <p:nvPr/>
        </p:nvSpPr>
        <p:spPr>
          <a:xfrm>
            <a:off x="459619" y="1348619"/>
            <a:ext cx="3652762" cy="165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48" dirty="0">
                <a:solidFill>
                  <a:srgbClr val="B8B8B8"/>
                </a:solidFill>
              </a:rPr>
              <a:t>What's working well</a:t>
            </a:r>
            <a:endParaRPr lang="en-US" sz="1048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48" dirty="0">
                <a:solidFill>
                  <a:srgbClr val="B8B8B8">
                    <a:alpha val="56000"/>
                  </a:srgbClr>
                </a:solidFill>
              </a:rPr>
              <a:t>J.A.R.V.I.S already delivers meaningful productivity gains in controlled environments.</a:t>
            </a:r>
            <a:endParaRPr lang="en-US" sz="1048" dirty="0"/>
          </a:p>
          <a:p>
            <a:pPr marL="127000" indent="-127000" algn="l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048" dirty="0">
                <a:solidFill>
                  <a:srgbClr val="B8B8B8">
                    <a:alpha val="56000"/>
                  </a:srgbClr>
                </a:solidFill>
              </a:rPr>
              <a:t>Hands-free interaction removes friction from common desktop tasks</a:t>
            </a:r>
            <a:endParaRPr lang="en-US" sz="1048" dirty="0"/>
          </a:p>
          <a:p>
            <a:pPr marL="127000" indent="-127000" algn="l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048" dirty="0">
                <a:solidFill>
                  <a:srgbClr val="B8B8B8">
                    <a:alpha val="56000"/>
                  </a:srgbClr>
                </a:solidFill>
              </a:rPr>
              <a:t>Clean, minimal interface keeps the experience fast and intuitive</a:t>
            </a:r>
            <a:endParaRPr lang="en-US" sz="1048" dirty="0"/>
          </a:p>
          <a:p>
            <a:pPr marL="127000" indent="-127000" algn="l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048" dirty="0">
                <a:solidFill>
                  <a:srgbClr val="B8B8B8">
                    <a:alpha val="56000"/>
                  </a:srgbClr>
                </a:solidFill>
              </a:rPr>
              <a:t>End-to-end automation handles repetitive workflows without manual input</a:t>
            </a:r>
            <a:endParaRPr lang="en-US" sz="1048" dirty="0"/>
          </a:p>
        </p:txBody>
      </p:sp>
      <p:sp>
        <p:nvSpPr>
          <p:cNvPr id="6" name="Text 3"/>
          <p:cNvSpPr/>
          <p:nvPr/>
        </p:nvSpPr>
        <p:spPr>
          <a:xfrm>
            <a:off x="5031619" y="1348619"/>
            <a:ext cx="3652762" cy="1335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48" dirty="0">
                <a:solidFill>
                  <a:srgbClr val="B8B8B8"/>
                </a:solidFill>
              </a:rPr>
              <a:t>Where improvement is needed</a:t>
            </a:r>
            <a:endParaRPr lang="en-US" sz="1048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48" dirty="0">
                <a:solidFill>
                  <a:srgbClr val="B8B8B8">
                    <a:alpha val="56000"/>
                  </a:srgbClr>
                </a:solidFill>
              </a:rPr>
              <a:t>Several areas are still being refined before a broader rollout.</a:t>
            </a:r>
            <a:endParaRPr lang="en-US" sz="1048" dirty="0"/>
          </a:p>
          <a:p>
            <a:pPr marL="127000" indent="-127000" algn="l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048" dirty="0">
                <a:solidFill>
                  <a:srgbClr val="B8B8B8">
                    <a:alpha val="56000"/>
                  </a:srgbClr>
                </a:solidFill>
              </a:rPr>
              <a:t>Voice recognition accuracy degrades in noisy environments</a:t>
            </a:r>
            <a:endParaRPr lang="en-US" sz="1048" dirty="0"/>
          </a:p>
          <a:p>
            <a:pPr marL="127000" indent="-127000" algn="l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048" dirty="0">
                <a:solidFill>
                  <a:srgbClr val="B8B8B8">
                    <a:alpha val="56000"/>
                  </a:srgbClr>
                </a:solidFill>
              </a:rPr>
              <a:t>Some backend modules remain incomplete and are under active development</a:t>
            </a:r>
            <a:endParaRPr lang="en-US" sz="1048" dirty="0"/>
          </a:p>
          <a:p>
            <a:pPr marL="127000" indent="-127000" algn="l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048" dirty="0">
                <a:solidFill>
                  <a:srgbClr val="B8B8B8">
                    <a:alpha val="56000"/>
                  </a:srgbClr>
                </a:solidFill>
              </a:rPr>
              <a:t>Edge case handling is limited - unexpected inputs can cause failures</a:t>
            </a:r>
            <a:endParaRPr lang="en-US" sz="1048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files.chroniclehq.com/chapter-background-v2/raw/v3-grid-33-dark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8667" y="338667"/>
            <a:ext cx="8466667" cy="483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10" dirty="0">
                <a:solidFill>
                  <a:srgbClr val="F2F2F2"/>
                </a:solidFill>
              </a:rPr>
              <a:t>What's next for J.A.R.V.I.S</a:t>
            </a:r>
            <a:endParaRPr lang="en-US" sz="3810" dirty="0"/>
          </a:p>
        </p:txBody>
      </p:sp>
      <p:sp>
        <p:nvSpPr>
          <p:cNvPr id="4" name="Text 1"/>
          <p:cNvSpPr/>
          <p:nvPr/>
        </p:nvSpPr>
        <p:spPr>
          <a:xfrm>
            <a:off x="441476" y="4523619"/>
            <a:ext cx="1354667" cy="175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Phase 1</a:t>
            </a:r>
            <a:endParaRPr lang="en-US" sz="1143" dirty="0"/>
          </a:p>
        </p:txBody>
      </p:sp>
      <p:sp>
        <p:nvSpPr>
          <p:cNvPr id="5" name="Text 2"/>
          <p:cNvSpPr/>
          <p:nvPr/>
        </p:nvSpPr>
        <p:spPr>
          <a:xfrm>
            <a:off x="2606524" y="4523619"/>
            <a:ext cx="1354667" cy="175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Phase 2</a:t>
            </a:r>
            <a:endParaRPr lang="en-US" sz="1143" dirty="0"/>
          </a:p>
        </p:txBody>
      </p:sp>
      <p:sp>
        <p:nvSpPr>
          <p:cNvPr id="6" name="Text 3"/>
          <p:cNvSpPr/>
          <p:nvPr/>
        </p:nvSpPr>
        <p:spPr>
          <a:xfrm>
            <a:off x="4771571" y="4523619"/>
            <a:ext cx="1354667" cy="175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Phase 3</a:t>
            </a:r>
            <a:endParaRPr lang="en-US" sz="1143" dirty="0"/>
          </a:p>
        </p:txBody>
      </p:sp>
      <p:sp>
        <p:nvSpPr>
          <p:cNvPr id="7" name="Text 4"/>
          <p:cNvSpPr/>
          <p:nvPr/>
        </p:nvSpPr>
        <p:spPr>
          <a:xfrm>
            <a:off x="6936619" y="4523619"/>
            <a:ext cx="1354667" cy="175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Phase 4</a:t>
            </a:r>
            <a:endParaRPr lang="en-US" sz="1143" dirty="0"/>
          </a:p>
        </p:txBody>
      </p:sp>
      <p:pic>
        <p:nvPicPr>
          <p:cNvPr id="8" name="Image 1" descr="https://files.chroniclehq.com/304b1398-72d3-4df9-acf0-963f4ba6c019-Gray_horizontal_line.png"/>
          <p:cNvPicPr>
            <a:picLocks noChangeAspect="1"/>
          </p:cNvPicPr>
          <p:nvPr/>
        </p:nvPicPr>
        <p:blipFill>
          <a:blip r:embed="rId4"/>
          <a:srcRect l="46154" r="46154"/>
          <a:stretch/>
        </p:blipFill>
        <p:spPr>
          <a:xfrm>
            <a:off x="2340429" y="1348619"/>
            <a:ext cx="266095" cy="3459238"/>
          </a:xfrm>
          <a:prstGeom prst="rect">
            <a:avLst/>
          </a:prstGeom>
        </p:spPr>
      </p:pic>
      <p:pic>
        <p:nvPicPr>
          <p:cNvPr id="9" name="Image 2" descr="https://files.chroniclehq.com/304b1398-72d3-4df9-acf0-963f4ba6c019-Gray_horizontal_line.png"/>
          <p:cNvPicPr>
            <a:picLocks noChangeAspect="1"/>
          </p:cNvPicPr>
          <p:nvPr/>
        </p:nvPicPr>
        <p:blipFill>
          <a:blip r:embed="rId4"/>
          <a:srcRect l="46154" r="46154"/>
          <a:stretch/>
        </p:blipFill>
        <p:spPr>
          <a:xfrm>
            <a:off x="4505476" y="1348619"/>
            <a:ext cx="266095" cy="3459238"/>
          </a:xfrm>
          <a:prstGeom prst="rect">
            <a:avLst/>
          </a:prstGeom>
        </p:spPr>
      </p:pic>
      <p:pic>
        <p:nvPicPr>
          <p:cNvPr id="10" name="Image 3" descr="https://files.chroniclehq.com/304b1398-72d3-4df9-acf0-963f4ba6c019-Gray_horizontal_line.png"/>
          <p:cNvPicPr>
            <a:picLocks noChangeAspect="1"/>
          </p:cNvPicPr>
          <p:nvPr/>
        </p:nvPicPr>
        <p:blipFill>
          <a:blip r:embed="rId4"/>
          <a:srcRect l="46154" r="46154"/>
          <a:stretch/>
        </p:blipFill>
        <p:spPr>
          <a:xfrm>
            <a:off x="6670524" y="1348619"/>
            <a:ext cx="266095" cy="345923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41476" y="1348619"/>
            <a:ext cx="1898952" cy="653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F3F3F3"/>
                </a:solidFill>
              </a:rPr>
              <a:t>Offline voice recognition</a:t>
            </a:r>
            <a:endParaRPr lang="en-US" sz="952" dirty="0"/>
          </a:p>
          <a:p>
            <a:pPr marL="127000" indent="-127000" algn="l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F3F3F3"/>
                </a:solidFill>
              </a:rPr>
              <a:t>No internet dependency</a:t>
            </a:r>
            <a:endParaRPr lang="en-US" sz="952" dirty="0"/>
          </a:p>
          <a:p>
            <a:pPr marL="127000" indent="-127000" algn="l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F3F3F3"/>
                </a:solidFill>
              </a:rPr>
              <a:t>Reliable in any environment</a:t>
            </a:r>
            <a:endParaRPr lang="en-US" sz="952" dirty="0"/>
          </a:p>
        </p:txBody>
      </p:sp>
      <p:sp>
        <p:nvSpPr>
          <p:cNvPr id="12" name="Text 6"/>
          <p:cNvSpPr/>
          <p:nvPr/>
        </p:nvSpPr>
        <p:spPr>
          <a:xfrm>
            <a:off x="2606524" y="1348619"/>
            <a:ext cx="1898952" cy="943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F3F3F3"/>
                </a:solidFill>
              </a:rPr>
              <a:t>Advanced natural language understanding</a:t>
            </a:r>
            <a:endParaRPr lang="en-US" sz="952" dirty="0"/>
          </a:p>
          <a:p>
            <a:pPr marL="127000" indent="-127000" algn="l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F3F3F3"/>
                </a:solidFill>
              </a:rPr>
              <a:t>Interpret complex, multi-step commands</a:t>
            </a:r>
            <a:endParaRPr lang="en-US" sz="952" dirty="0"/>
          </a:p>
          <a:p>
            <a:pPr marL="127000" indent="-127000" algn="l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F3F3F3"/>
                </a:solidFill>
              </a:rPr>
              <a:t>Smarter context handling</a:t>
            </a:r>
            <a:endParaRPr lang="en-US" sz="952" dirty="0"/>
          </a:p>
        </p:txBody>
      </p:sp>
      <p:sp>
        <p:nvSpPr>
          <p:cNvPr id="13" name="Text 7"/>
          <p:cNvSpPr/>
          <p:nvPr/>
        </p:nvSpPr>
        <p:spPr>
          <a:xfrm>
            <a:off x="4771571" y="1348619"/>
            <a:ext cx="1898952" cy="798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F3F3F3"/>
                </a:solidFill>
              </a:rPr>
              <a:t>Cross-platform support</a:t>
            </a:r>
            <a:endParaRPr lang="en-US" sz="952" dirty="0"/>
          </a:p>
          <a:p>
            <a:pPr marL="127000" indent="-127000" algn="l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F3F3F3"/>
                </a:solidFill>
              </a:rPr>
              <a:t>Windows, macOS, and Linux</a:t>
            </a:r>
            <a:endParaRPr lang="en-US" sz="952" dirty="0"/>
          </a:p>
          <a:p>
            <a:pPr marL="127000" indent="-127000" algn="l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F3F3F3"/>
                </a:solidFill>
              </a:rPr>
              <a:t>Consistent experience across OS</a:t>
            </a:r>
            <a:endParaRPr lang="en-US" sz="952" dirty="0"/>
          </a:p>
        </p:txBody>
      </p:sp>
      <p:sp>
        <p:nvSpPr>
          <p:cNvPr id="14" name="Text 8"/>
          <p:cNvSpPr/>
          <p:nvPr/>
        </p:nvSpPr>
        <p:spPr>
          <a:xfrm>
            <a:off x="6936619" y="1348619"/>
            <a:ext cx="1898952" cy="798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F3F3F3"/>
                </a:solidFill>
              </a:rPr>
              <a:t>Personalized assistant features</a:t>
            </a:r>
            <a:endParaRPr lang="en-US" sz="952" dirty="0"/>
          </a:p>
          <a:p>
            <a:pPr marL="127000" indent="-127000" algn="l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F3F3F3"/>
                </a:solidFill>
              </a:rPr>
              <a:t>User profiles and preferences</a:t>
            </a:r>
            <a:endParaRPr lang="en-US" sz="952" dirty="0"/>
          </a:p>
          <a:p>
            <a:pPr marL="127000" indent="-127000" algn="l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F3F3F3"/>
                </a:solidFill>
              </a:rPr>
              <a:t>Persistent memory across sessions</a:t>
            </a:r>
            <a:endParaRPr lang="en-US" sz="95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7455" y="423333"/>
            <a:ext cx="2080381" cy="14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AI Voice Assistant</a:t>
            </a:r>
            <a:endParaRPr lang="en-US" sz="952" dirty="0"/>
          </a:p>
        </p:txBody>
      </p:sp>
      <p:sp>
        <p:nvSpPr>
          <p:cNvPr id="3" name="Text 1"/>
          <p:cNvSpPr/>
          <p:nvPr/>
        </p:nvSpPr>
        <p:spPr>
          <a:xfrm>
            <a:off x="417286" y="423333"/>
            <a:ext cx="2080381" cy="14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Conclusion</a:t>
            </a:r>
            <a:endParaRPr lang="en-US" sz="952" dirty="0"/>
          </a:p>
        </p:txBody>
      </p:sp>
      <p:sp>
        <p:nvSpPr>
          <p:cNvPr id="4" name="Text 2"/>
          <p:cNvSpPr/>
          <p:nvPr/>
        </p:nvSpPr>
        <p:spPr>
          <a:xfrm>
            <a:off x="6726629" y="423333"/>
            <a:ext cx="2080381" cy="14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Hands-free computing, realized.</a:t>
            </a:r>
            <a:endParaRPr lang="en-US" sz="952" dirty="0"/>
          </a:p>
        </p:txBody>
      </p:sp>
      <p:sp>
        <p:nvSpPr>
          <p:cNvPr id="5" name="Text 3"/>
          <p:cNvSpPr/>
          <p:nvPr/>
        </p:nvSpPr>
        <p:spPr>
          <a:xfrm>
            <a:off x="411238" y="3447143"/>
            <a:ext cx="5575905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AI, automation, and voice - unified into one working desktop assistant.</a:t>
            </a:r>
            <a:endParaRPr lang="en-US" sz="1143" dirty="0"/>
          </a:p>
        </p:txBody>
      </p:sp>
      <p:sp>
        <p:nvSpPr>
          <p:cNvPr id="6" name="Text 4"/>
          <p:cNvSpPr/>
          <p:nvPr/>
        </p:nvSpPr>
        <p:spPr>
          <a:xfrm>
            <a:off x="338667" y="3834190"/>
            <a:ext cx="8466667" cy="72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14" dirty="0">
                <a:solidFill>
                  <a:srgbClr val="F2F2F2"/>
                </a:solidFill>
              </a:rPr>
              <a:t>J.A.R.V.I.S</a:t>
            </a:r>
            <a:endParaRPr lang="en-US" sz="571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765</Words>
  <Application>Microsoft Office PowerPoint</Application>
  <PresentationFormat>On-screen Show (16:9)</PresentationFormat>
  <Paragraphs>122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Meet Rabadiya</cp:lastModifiedBy>
  <cp:revision>3</cp:revision>
  <dcterms:created xsi:type="dcterms:W3CDTF">2026-03-09T04:50:11Z</dcterms:created>
  <dcterms:modified xsi:type="dcterms:W3CDTF">2026-03-09T08:18:44Z</dcterms:modified>
</cp:coreProperties>
</file>